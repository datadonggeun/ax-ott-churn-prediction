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y="13716000" cx="24384000"/>
  <p:notesSz cx="6858000" cy="9144000"/>
  <p:embeddedFontLst>
    <p:embeddedFont>
      <p:font typeface="Josefin Sans SemiBold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0" roundtripDataSignature="AMtx7mgtAFDMCrj6C4Vv0kekBxcznHGIc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6628D57-9080-41F5-BF4B-C3B86ACC4C00}">
  <a:tblStyle styleId="{96628D57-9080-41F5-BF4B-C3B86ACC4C00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customschemas.google.com/relationships/presentationmetadata" Target="meta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font" Target="fonts/JosefinSansSemiBold-bold.fntdata"/><Relationship Id="rId16" Type="http://schemas.openxmlformats.org/officeDocument/2006/relationships/font" Target="fonts/JosefinSansSemiBold-regular.fntdata"/><Relationship Id="rId5" Type="http://schemas.openxmlformats.org/officeDocument/2006/relationships/slideMaster" Target="slideMasters/slideMaster1.xml"/><Relationship Id="rId19" Type="http://schemas.openxmlformats.org/officeDocument/2006/relationships/font" Target="fonts/JosefinSansSemiBold-boldItalic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JosefinSansSemiBold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안녕하세요 시청 행동 데이터 기반 OTT 고객 이탈 예측 프로젝트 기획안 발표를 할 김나현입니다.</a:t>
            </a:r>
            <a:endParaRPr/>
          </a:p>
        </p:txBody>
      </p:sp>
      <p:sp>
        <p:nvSpPr>
          <p:cNvPr id="87" name="Google Shape;87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" name="Google Shape;100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오늘 발표는 프로젝트 주제 및 목표, 상세 수행 내용, 주차별 수행 계획, 그리고 마지막으로 본 프로젝트의 기대효과 순으로 진행하겠습니다.</a:t>
            </a: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1" name="Google Shape;101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" name="Google Shape;10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먼저 프로젝트 주제와 수행 배경을 설명드리겠습니다. 저희 프로젝트의 핵심 주제는 '시청 행동 데이터 기반 OTT 고객 이탈 예측인데요</a:t>
            </a: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최근 OTT 산업 내 플랫폼 간의 경쟁이 매우 심화되었고, 단순히 신규 가입자를 확보하는 것보다는, 기존 고객을 유지하는 것이 플랫폼의 수익성에 직결되는 핵심 요소로 부상했습니다.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문제는 OTT와 같은 구독 기반 모델의 특성상 반복적인 이탈이 발생하기 마련인데요, 저희는 이탈 직전에 시청량이 감소하는 등의 고객 행동 패턴을 사전에 탐지하여 선제적으로 이탈을 방지할 필요성을 느껴 본 프로젝트를 기획했습니다.</a:t>
            </a: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0" name="Google Shape;110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" name="Google Shape;12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다음으로 성공적인 프로젝트 수행을 위해 저희는 5가지의 핵심 목표를 설정했습니다.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첫째, 시청 행동 데이터를 기반으로 고객의 이탈 가능성을 예측하는 모델을 개발하고.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두번째, Feature Engineering과 설명 가능한 AI인 XAI 기법을 활용하여 고객 이탈에 실질적인 영향을 미치는 핵심 변수를 도출합니다.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그리고 세번째로 머신러닝 및 딥러닝 등 다양한 알고리즘을 실제 비즈니스 문제에 적용해서 도출된 분석 결과를 토대로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네 번째로는, 효과적인 이탈 방지 비즈니스 전략을 제언하고자합니다.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마지막으로, 예측 결과를 단순 분석에 그치지 않고 대시보드와 LLM/RAG 챗봇 형태로 서비스화해서 활용성을 극대화할 계획입니다.</a:t>
            </a:r>
            <a:endParaRPr/>
          </a:p>
        </p:txBody>
      </p:sp>
      <p:sp>
        <p:nvSpPr>
          <p:cNvPr id="129" name="Google Shape;129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8" name="Google Shape;158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이러한 목표를 달성하기 위한 구체적인 수행 내용 중, 데이터 핸들링 및 전처리 과정에 대해 설명해 드리겠습니다.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저희는 내부 사용자 프로필 데이터, 프로모션 참여 여부, 그리고 시청 이력 데이터를 종합적으로 활용할 계획입니다.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이러한 기본 데이터를 바탕으로, 고객의 행동 변화를 잘 나타낼 수 있는 대안 변수를 기획하고 생성하는 파생 변수를 설계하겠습니다.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데이터 전처리 단계에서는 결측치 처리 및 데이터 변환을 수행하고, 특히 이탈 고객 데이터가 상대적으로 적은 현상을 해결하기 위해 데이터 불균형 처리 기법을 적극 적용할 예정입니다.</a:t>
            </a:r>
            <a:endParaRPr/>
          </a:p>
        </p:txBody>
      </p:sp>
      <p:sp>
        <p:nvSpPr>
          <p:cNvPr id="159" name="Google Shape;159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0" name="Google Shape;180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이어　모델링 단계에서는 머신러닝과 딥러닝을 아우르는 다양한 기법을 폭넓게 적용하여 최적의 성능을 찾아낼것입니다.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모델 성능 평가의 경우 단순히 정확도만 보는 것이 아니라 재현율과 정밀도를활용하고 특히 불균형 데이터에 적합한 F1-Score 및 PR-AUC 지표를 중심으로 검증해 나갈 계획입니다.</a:t>
            </a:r>
            <a:endParaRPr/>
          </a:p>
        </p:txBody>
      </p:sp>
      <p:sp>
        <p:nvSpPr>
          <p:cNvPr id="181" name="Google Shape;181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4" name="Google Shape;194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다음은 11주간의 주차별 수행 계획입니다. 크게 데이터 탐색, 모델링, 서비스 구축의 세 단계로 나누어 진행할 예정입니다.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1~2주차</a:t>
            </a:r>
            <a:r>
              <a:rPr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에는 OTT 도메인 비즈니스 지식을 학습하고 탐색적 데이터 분석(EDA)을 통해 데이터 기초를 다지겠습니다.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3~4주차</a:t>
            </a:r>
            <a:r>
              <a:rPr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에는 결측치와 이상치를 처리하는 등 본격적인 데이터 전처리에 집중하고</a:t>
            </a: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이어서 5~6주차</a:t>
            </a:r>
            <a:r>
              <a:rPr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에는 데이터 불균형 문제를 해결하며, Feature Selection 과정을 거칠 계획입니다.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7~8주차</a:t>
            </a:r>
            <a:r>
              <a:rPr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에는 본격적으로 ML/DL 모델을 학습시키고, 교차 검증(Cross Validation) 및 하이퍼파라미터 최적화를 통해 모델의 완성도를 높이겠습니다.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9~10주차</a:t>
            </a:r>
            <a:r>
              <a:rPr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에는 XAI를 통한 요인 분석을 실시하고, 예측 결과를 모니터링할 수 있는 태블로(Tableau) 기반의 시각화 대시보드를 개발합니다.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마지막 </a:t>
            </a:r>
            <a:r>
              <a:rPr b="1"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11주차</a:t>
            </a:r>
            <a:r>
              <a:rPr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에는 자연어 질의 기반 LLM/RAG 분석／챗봇을 설계 및 구현하고, 최종 발표를 준비하며 프로젝트를 마무리　하고자합니다．</a:t>
            </a: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95" name="Google Shape;195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3" name="Google Shape;243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마지막으로 본 프로젝트를 통한 기대효과 세 가지를 말씀드리겠습니다.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우선 첫째로 타켓팅과 정교화를 통해 이탈 가능성이 높은 고휘험군 고객을 사전에 선별할 수 있게 됩니다. 이를 통해  품질 관리나 프로모션 등에 투입되는 리텐션 비용을 실질적으로 절감하는 효과가 있습니다.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둘째로 기존 고객분들을 보다 효과적으로 유지할 수 있습니다. 결과적으로 플랫폼의 수익성을 안정적으로 방어하고 나아가 시장 점유율까지 향상시킬 수 있을 것으로 기대합니다.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마지막 셋쨰는 고객들이 이탈하는 주요 요인을 명확히 파악할 수 있다는 점입니다. 이러한 분석 결과를 바탕으로 서비스 및 추천 알고리즘 자체를 개선할 수 있는 아주 의미 있는 비즈니스 인사이트를 도출해날 수 있을 것입니다</a:t>
            </a: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44" name="Google Shape;244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8" name="Google Shape;268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이상으로 '시청 행동 데이터 기반 OTT 고객 이탈 예측' 프로젝트 기획안 발표를 마치겠습니다.</a:t>
            </a:r>
            <a:endParaRPr/>
          </a:p>
        </p:txBody>
      </p:sp>
      <p:sp>
        <p:nvSpPr>
          <p:cNvPr id="269" name="Google Shape;269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2" name="Google Shape;22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4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4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5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0" name="Google Shape;40;p15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1" name="Google Shape;41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6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16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8" name="Google Shape;48;p16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16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0" name="Google Shape;50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8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8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18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9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9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9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0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1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1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11.png"/><Relationship Id="rId5" Type="http://schemas.openxmlformats.org/officeDocument/2006/relationships/image" Target="../media/image3.png"/><Relationship Id="rId6" Type="http://schemas.openxmlformats.org/officeDocument/2006/relationships/image" Target="../media/image9.png"/><Relationship Id="rId7" Type="http://schemas.openxmlformats.org/officeDocument/2006/relationships/image" Target="../media/image1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2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png"/><Relationship Id="rId4" Type="http://schemas.openxmlformats.org/officeDocument/2006/relationships/image" Target="../media/image2.png"/><Relationship Id="rId9" Type="http://schemas.openxmlformats.org/officeDocument/2006/relationships/image" Target="../media/image19.png"/><Relationship Id="rId5" Type="http://schemas.openxmlformats.org/officeDocument/2006/relationships/image" Target="../media/image6.png"/><Relationship Id="rId6" Type="http://schemas.openxmlformats.org/officeDocument/2006/relationships/image" Target="../media/image4.png"/><Relationship Id="rId7" Type="http://schemas.openxmlformats.org/officeDocument/2006/relationships/image" Target="../media/image18.png"/><Relationship Id="rId8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Relationship Id="rId4" Type="http://schemas.openxmlformats.org/officeDocument/2006/relationships/image" Target="../media/image2.png"/><Relationship Id="rId11" Type="http://schemas.openxmlformats.org/officeDocument/2006/relationships/image" Target="../media/image17.png"/><Relationship Id="rId10" Type="http://schemas.openxmlformats.org/officeDocument/2006/relationships/image" Target="../media/image22.png"/><Relationship Id="rId12" Type="http://schemas.openxmlformats.org/officeDocument/2006/relationships/image" Target="../media/image13.png"/><Relationship Id="rId9" Type="http://schemas.openxmlformats.org/officeDocument/2006/relationships/image" Target="../media/image7.png"/><Relationship Id="rId5" Type="http://schemas.openxmlformats.org/officeDocument/2006/relationships/image" Target="../media/image6.png"/><Relationship Id="rId6" Type="http://schemas.openxmlformats.org/officeDocument/2006/relationships/image" Target="../media/image21.png"/><Relationship Id="rId7" Type="http://schemas.openxmlformats.org/officeDocument/2006/relationships/image" Target="../media/image36.png"/><Relationship Id="rId8" Type="http://schemas.openxmlformats.org/officeDocument/2006/relationships/image" Target="../media/image1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Relationship Id="rId4" Type="http://schemas.openxmlformats.org/officeDocument/2006/relationships/image" Target="../media/image2.png"/><Relationship Id="rId11" Type="http://schemas.openxmlformats.org/officeDocument/2006/relationships/image" Target="../media/image20.png"/><Relationship Id="rId10" Type="http://schemas.openxmlformats.org/officeDocument/2006/relationships/image" Target="../media/image24.png"/><Relationship Id="rId9" Type="http://schemas.openxmlformats.org/officeDocument/2006/relationships/image" Target="../media/image35.png"/><Relationship Id="rId5" Type="http://schemas.openxmlformats.org/officeDocument/2006/relationships/image" Target="../media/image33.png"/><Relationship Id="rId6" Type="http://schemas.openxmlformats.org/officeDocument/2006/relationships/image" Target="../media/image14.png"/><Relationship Id="rId7" Type="http://schemas.openxmlformats.org/officeDocument/2006/relationships/image" Target="../media/image39.png"/><Relationship Id="rId8" Type="http://schemas.openxmlformats.org/officeDocument/2006/relationships/image" Target="../media/image3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Relationship Id="rId4" Type="http://schemas.openxmlformats.org/officeDocument/2006/relationships/image" Target="../media/image2.png"/><Relationship Id="rId5" Type="http://schemas.openxmlformats.org/officeDocument/2006/relationships/image" Target="../media/image6.png"/><Relationship Id="rId6" Type="http://schemas.openxmlformats.org/officeDocument/2006/relationships/image" Target="../media/image28.png"/></Relationships>
</file>

<file path=ppt/slides/_rels/slide7.xml.rels><?xml version="1.0" encoding="UTF-8" standalone="yes"?><Relationships xmlns="http://schemas.openxmlformats.org/package/2006/relationships"><Relationship Id="rId20" Type="http://schemas.openxmlformats.org/officeDocument/2006/relationships/image" Target="../media/image45.png"/><Relationship Id="rId11" Type="http://schemas.openxmlformats.org/officeDocument/2006/relationships/image" Target="../media/image12.png"/><Relationship Id="rId22" Type="http://schemas.openxmlformats.org/officeDocument/2006/relationships/image" Target="../media/image55.png"/><Relationship Id="rId10" Type="http://schemas.openxmlformats.org/officeDocument/2006/relationships/image" Target="../media/image23.png"/><Relationship Id="rId21" Type="http://schemas.openxmlformats.org/officeDocument/2006/relationships/image" Target="../media/image53.png"/><Relationship Id="rId13" Type="http://schemas.openxmlformats.org/officeDocument/2006/relationships/image" Target="../media/image37.png"/><Relationship Id="rId24" Type="http://schemas.openxmlformats.org/officeDocument/2006/relationships/image" Target="../media/image44.png"/><Relationship Id="rId12" Type="http://schemas.openxmlformats.org/officeDocument/2006/relationships/image" Target="../media/image6.png"/><Relationship Id="rId23" Type="http://schemas.openxmlformats.org/officeDocument/2006/relationships/image" Target="../media/image50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25.png"/><Relationship Id="rId9" Type="http://schemas.openxmlformats.org/officeDocument/2006/relationships/image" Target="../media/image30.png"/><Relationship Id="rId15" Type="http://schemas.openxmlformats.org/officeDocument/2006/relationships/image" Target="../media/image43.png"/><Relationship Id="rId14" Type="http://schemas.openxmlformats.org/officeDocument/2006/relationships/image" Target="../media/image32.png"/><Relationship Id="rId17" Type="http://schemas.openxmlformats.org/officeDocument/2006/relationships/image" Target="../media/image40.png"/><Relationship Id="rId16" Type="http://schemas.openxmlformats.org/officeDocument/2006/relationships/image" Target="../media/image41.png"/><Relationship Id="rId5" Type="http://schemas.openxmlformats.org/officeDocument/2006/relationships/image" Target="../media/image31.png"/><Relationship Id="rId19" Type="http://schemas.openxmlformats.org/officeDocument/2006/relationships/image" Target="../media/image49.png"/><Relationship Id="rId6" Type="http://schemas.openxmlformats.org/officeDocument/2006/relationships/image" Target="../media/image26.png"/><Relationship Id="rId18" Type="http://schemas.openxmlformats.org/officeDocument/2006/relationships/image" Target="../media/image48.png"/><Relationship Id="rId7" Type="http://schemas.openxmlformats.org/officeDocument/2006/relationships/image" Target="../media/image42.png"/><Relationship Id="rId8" Type="http://schemas.openxmlformats.org/officeDocument/2006/relationships/image" Target="../media/image27.png"/></Relationships>
</file>

<file path=ppt/slides/_rels/slide8.xml.rels><?xml version="1.0" encoding="UTF-8" standalone="yes"?><Relationships xmlns="http://schemas.openxmlformats.org/package/2006/relationships"><Relationship Id="rId11" Type="http://schemas.openxmlformats.org/officeDocument/2006/relationships/image" Target="../media/image56.png"/><Relationship Id="rId10" Type="http://schemas.openxmlformats.org/officeDocument/2006/relationships/image" Target="../media/image46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Relationship Id="rId4" Type="http://schemas.openxmlformats.org/officeDocument/2006/relationships/image" Target="../media/image52.png"/><Relationship Id="rId9" Type="http://schemas.openxmlformats.org/officeDocument/2006/relationships/image" Target="../media/image61.png"/><Relationship Id="rId5" Type="http://schemas.openxmlformats.org/officeDocument/2006/relationships/image" Target="../media/image6.png"/><Relationship Id="rId6" Type="http://schemas.openxmlformats.org/officeDocument/2006/relationships/image" Target="../media/image59.png"/><Relationship Id="rId7" Type="http://schemas.openxmlformats.org/officeDocument/2006/relationships/image" Target="../media/image51.png"/><Relationship Id="rId8" Type="http://schemas.openxmlformats.org/officeDocument/2006/relationships/image" Target="../media/image6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2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7F5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93484" y="14531178"/>
            <a:ext cx="2456750" cy="1381922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54900" y="6591300"/>
            <a:ext cx="9474200" cy="1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"/>
          <p:cNvPicPr preferRelativeResize="0"/>
          <p:nvPr/>
        </p:nvPicPr>
        <p:blipFill rotWithShape="1">
          <a:blip r:embed="rId5">
            <a:alphaModFix amt="10000"/>
          </a:blip>
          <a:srcRect b="0" l="0" r="0" t="0"/>
          <a:stretch/>
        </p:blipFill>
        <p:spPr>
          <a:xfrm>
            <a:off x="9906000" y="9080500"/>
            <a:ext cx="4572000" cy="8890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"/>
          <p:cNvSpPr txBox="1"/>
          <p:nvPr/>
        </p:nvSpPr>
        <p:spPr>
          <a:xfrm>
            <a:off x="1701800" y="6858000"/>
            <a:ext cx="20485100" cy="142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6A7E74"/>
                </a:solidFill>
                <a:latin typeface="Arial"/>
                <a:ea typeface="Arial"/>
                <a:cs typeface="Arial"/>
                <a:sym typeface="Arial"/>
              </a:rPr>
              <a:t>시청 행동 데이터 기반 OTT 고객 이탈 예측</a:t>
            </a:r>
            <a:endParaRPr/>
          </a:p>
        </p:txBody>
      </p:sp>
      <p:sp>
        <p:nvSpPr>
          <p:cNvPr id="93" name="Google Shape;93;p1"/>
          <p:cNvSpPr txBox="1"/>
          <p:nvPr/>
        </p:nvSpPr>
        <p:spPr>
          <a:xfrm>
            <a:off x="6769100" y="4483100"/>
            <a:ext cx="10807700" cy="21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0" u="none" cap="none" strike="noStrike">
                <a:solidFill>
                  <a:srgbClr val="6A7E74"/>
                </a:solidFill>
                <a:latin typeface="Arial"/>
                <a:ea typeface="Arial"/>
                <a:cs typeface="Arial"/>
                <a:sym typeface="Arial"/>
              </a:rPr>
              <a:t>프로젝트 기획안</a:t>
            </a:r>
            <a:endParaRPr/>
          </a:p>
        </p:txBody>
      </p:sp>
      <p:sp>
        <p:nvSpPr>
          <p:cNvPr id="94" name="Google Shape;94;p1"/>
          <p:cNvSpPr txBox="1"/>
          <p:nvPr/>
        </p:nvSpPr>
        <p:spPr>
          <a:xfrm>
            <a:off x="10274300" y="9232900"/>
            <a:ext cx="38354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466456"/>
                </a:solidFill>
                <a:latin typeface="Arial"/>
                <a:ea typeface="Arial"/>
                <a:cs typeface="Arial"/>
                <a:sym typeface="Arial"/>
              </a:rPr>
              <a:t>SK 주식회사 AX</a:t>
            </a:r>
            <a:endParaRPr/>
          </a:p>
        </p:txBody>
      </p:sp>
      <p:pic>
        <p:nvPicPr>
          <p:cNvPr id="95" name="Google Shape;95;p1"/>
          <p:cNvPicPr preferRelativeResize="0"/>
          <p:nvPr/>
        </p:nvPicPr>
        <p:blipFill rotWithShape="1">
          <a:blip r:embed="rId6">
            <a:alphaModFix amt="70000"/>
          </a:blip>
          <a:srcRect b="0" l="0" r="0" t="0"/>
          <a:stretch/>
        </p:blipFill>
        <p:spPr>
          <a:xfrm>
            <a:off x="-3683000" y="11112500"/>
            <a:ext cx="31699200" cy="3556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96" name="Google Shape;96;p1"/>
          <p:cNvGraphicFramePr/>
          <p:nvPr/>
        </p:nvGraphicFramePr>
        <p:xfrm>
          <a:off x="1270000" y="11938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{96628D57-9080-41F5-BF4B-C3B86ACC4C00}</a:tableStyleId>
              </a:tblPr>
              <a:tblGrid>
                <a:gridCol w="7279275"/>
                <a:gridCol w="7279650"/>
                <a:gridCol w="7279275"/>
              </a:tblGrid>
              <a:tr h="1148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8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2399" u="none" cap="none" strike="noStrike">
                          <a:solidFill>
                            <a:srgbClr val="46645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SK 주식회사 AX 박병선 멘토님</a:t>
                      </a:r>
                      <a:endParaRPr sz="1100" u="none" cap="none" strike="noStrike"/>
                    </a:p>
                  </a:txBody>
                  <a:tcPr marT="40650" marB="40650" marR="25400" marL="254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E7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8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40650" marB="40650" marR="25400" marL="254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E7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78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2399" u="none" cap="none" strike="noStrike">
                          <a:solidFill>
                            <a:srgbClr val="46645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권동근,김광일,김나현,박인겸,허대수</a:t>
                      </a:r>
                      <a:endParaRPr sz="1100" u="none" cap="none" strike="noStrike"/>
                    </a:p>
                  </a:txBody>
                  <a:tcPr marT="40650" marB="40650" marR="25400" marL="254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E7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  <p:pic>
        <p:nvPicPr>
          <p:cNvPr descr="SK(주) AX Careers" id="97" name="Google Shape;97;p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28229" y="228600"/>
            <a:ext cx="2947141" cy="17274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7F5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03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24384000" cy="1371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48000" y="3060700"/>
            <a:ext cx="127000" cy="889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2"/>
          <p:cNvSpPr txBox="1"/>
          <p:nvPr/>
        </p:nvSpPr>
        <p:spPr>
          <a:xfrm>
            <a:off x="3556000" y="2819400"/>
            <a:ext cx="6121400" cy="142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466456"/>
                </a:solidFill>
                <a:latin typeface="Arial"/>
                <a:ea typeface="Arial"/>
                <a:cs typeface="Arial"/>
                <a:sym typeface="Arial"/>
              </a:rPr>
              <a:t>목차</a:t>
            </a:r>
            <a:endParaRPr/>
          </a:p>
        </p:txBody>
      </p:sp>
      <p:graphicFrame>
        <p:nvGraphicFramePr>
          <p:cNvPr id="106" name="Google Shape;106;p2"/>
          <p:cNvGraphicFramePr/>
          <p:nvPr/>
        </p:nvGraphicFramePr>
        <p:xfrm>
          <a:off x="12192000" y="2374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{96628D57-9080-41F5-BF4B-C3B86ACC4C00}</a:tableStyleId>
              </a:tblPr>
              <a:tblGrid>
                <a:gridCol w="2195475"/>
                <a:gridCol w="9806025"/>
              </a:tblGrid>
              <a:tr h="1794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2399" u="none" cap="none" strike="noStrike">
                          <a:solidFill>
                            <a:srgbClr val="6A7E7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Chapter 1. </a:t>
                      </a:r>
                      <a:endParaRPr sz="1100" u="none" cap="none" strike="noStrike"/>
                    </a:p>
                  </a:txBody>
                  <a:tcPr marT="70350" marB="70350" marR="25400" marL="254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ACCC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4266" u="none" cap="none" strike="noStrike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프로젝트 주제</a:t>
                      </a:r>
                      <a:endParaRPr sz="1100" u="none" cap="none" strike="noStrike"/>
                    </a:p>
                  </a:txBody>
                  <a:tcPr marT="105325" marB="105325" marR="25400" marL="254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ACCC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</a:tr>
              <a:tr h="1794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2399" u="none" cap="none" strike="noStrike">
                          <a:solidFill>
                            <a:srgbClr val="6A7E7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Chapter 2. </a:t>
                      </a:r>
                      <a:endParaRPr sz="1100" u="none" cap="none" strike="noStrike"/>
                    </a:p>
                  </a:txBody>
                  <a:tcPr marT="70350" marB="70350" marR="25400" marL="254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ACCC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ACCC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4266" u="none" cap="none" strike="noStrike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프로젝트 목표</a:t>
                      </a:r>
                      <a:endParaRPr sz="1100" u="none" cap="none" strike="noStrike"/>
                    </a:p>
                  </a:txBody>
                  <a:tcPr marT="105325" marB="105325" marR="25400" marL="254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ACCC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ACCC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</a:tr>
              <a:tr h="1794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2399" u="none" cap="none" strike="noStrike">
                          <a:solidFill>
                            <a:srgbClr val="6A7E7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Chapter 3. </a:t>
                      </a:r>
                      <a:endParaRPr sz="1100" u="none" cap="none" strike="noStrike"/>
                    </a:p>
                  </a:txBody>
                  <a:tcPr marT="70350" marB="70350" marR="25400" marL="254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ACCC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ACCC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4266" u="none" cap="none" strike="noStrike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수행내용</a:t>
                      </a:r>
                      <a:endParaRPr sz="1100" u="none" cap="none" strike="noStrike"/>
                    </a:p>
                  </a:txBody>
                  <a:tcPr marT="105325" marB="105325" marR="25400" marL="254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ACCC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ACCC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</a:tr>
              <a:tr h="1794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2399" u="none" cap="none" strike="noStrike">
                          <a:solidFill>
                            <a:srgbClr val="6A7E7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Chapter 4. </a:t>
                      </a:r>
                      <a:endParaRPr sz="1100" u="none" cap="none" strike="noStrike"/>
                    </a:p>
                  </a:txBody>
                  <a:tcPr marT="70350" marB="70350" marR="25400" marL="254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ACCC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ACCC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4266" u="none" cap="none" strike="noStrike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수행계획</a:t>
                      </a:r>
                      <a:endParaRPr sz="1100" u="none" cap="none" strike="noStrike"/>
                    </a:p>
                  </a:txBody>
                  <a:tcPr marT="105325" marB="105325" marR="25400" marL="254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ACCC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ACCC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</a:tr>
              <a:tr h="1794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2399" u="none" cap="none" strike="noStrike">
                          <a:solidFill>
                            <a:srgbClr val="6A7E7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Chapter 5. </a:t>
                      </a:r>
                      <a:endParaRPr sz="1100" u="none" cap="none" strike="noStrike"/>
                    </a:p>
                  </a:txBody>
                  <a:tcPr marT="70350" marB="70350" marR="25400" marL="254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ACCC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ACCC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4266" u="none" cap="none" strike="noStrike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기대효과</a:t>
                      </a:r>
                      <a:endParaRPr sz="1100" u="none" cap="none" strike="noStrike"/>
                    </a:p>
                  </a:txBody>
                  <a:tcPr marT="105325" marB="105325" marR="25400" marL="254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ACCC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ACCC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7F5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12;p3"/>
          <p:cNvPicPr preferRelativeResize="0"/>
          <p:nvPr/>
        </p:nvPicPr>
        <p:blipFill rotWithShape="1">
          <a:blip r:embed="rId3">
            <a:alphaModFix amt="0"/>
          </a:blip>
          <a:srcRect b="0" l="0" r="0" t="0"/>
          <a:stretch/>
        </p:blipFill>
        <p:spPr>
          <a:xfrm>
            <a:off x="0" y="0"/>
            <a:ext cx="24384000" cy="279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24384000" cy="1371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295400" y="2806700"/>
            <a:ext cx="21793200" cy="12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3"/>
          <p:cNvSpPr txBox="1"/>
          <p:nvPr/>
        </p:nvSpPr>
        <p:spPr>
          <a:xfrm>
            <a:off x="1295400" y="1016000"/>
            <a:ext cx="5918200" cy="4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66" u="none" cap="none" strike="noStrike">
                <a:solidFill>
                  <a:srgbClr val="BACCC3"/>
                </a:solidFill>
                <a:latin typeface="Josefin Sans SemiBold"/>
                <a:ea typeface="Josefin Sans SemiBold"/>
                <a:cs typeface="Josefin Sans SemiBold"/>
                <a:sym typeface="Josefin Sans SemiBold"/>
              </a:rPr>
              <a:t>Chapter 1.</a:t>
            </a:r>
            <a:endParaRPr/>
          </a:p>
        </p:txBody>
      </p:sp>
      <p:sp>
        <p:nvSpPr>
          <p:cNvPr id="116" name="Google Shape;116;p3"/>
          <p:cNvSpPr txBox="1"/>
          <p:nvPr/>
        </p:nvSpPr>
        <p:spPr>
          <a:xfrm>
            <a:off x="1295400" y="1511300"/>
            <a:ext cx="60198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333" u="none" cap="none" strike="noStrike">
                <a:solidFill>
                  <a:srgbClr val="6A7E74"/>
                </a:solidFill>
                <a:latin typeface="Arial"/>
                <a:ea typeface="Arial"/>
                <a:cs typeface="Arial"/>
                <a:sym typeface="Arial"/>
              </a:rPr>
              <a:t>프로젝트 주제</a:t>
            </a:r>
            <a:endParaRPr/>
          </a:p>
        </p:txBody>
      </p:sp>
      <p:sp>
        <p:nvSpPr>
          <p:cNvPr id="117" name="Google Shape;117;p3"/>
          <p:cNvSpPr txBox="1"/>
          <p:nvPr/>
        </p:nvSpPr>
        <p:spPr>
          <a:xfrm>
            <a:off x="1422400" y="3568700"/>
            <a:ext cx="215392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시청 행동 데이터 기반 OTT 고객 이탈 예측</a:t>
            </a:r>
            <a:endParaRPr/>
          </a:p>
        </p:txBody>
      </p:sp>
      <p:pic>
        <p:nvPicPr>
          <p:cNvPr id="118" name="Google Shape;118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203700" y="5486400"/>
            <a:ext cx="18148300" cy="274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908300" y="5067300"/>
            <a:ext cx="3568700" cy="3568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3"/>
          <p:cNvSpPr txBox="1"/>
          <p:nvPr/>
        </p:nvSpPr>
        <p:spPr>
          <a:xfrm>
            <a:off x="3073400" y="6553200"/>
            <a:ext cx="3238500" cy="6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0950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553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수행 배경</a:t>
            </a:r>
            <a:endParaRPr/>
          </a:p>
        </p:txBody>
      </p:sp>
      <p:pic>
        <p:nvPicPr>
          <p:cNvPr id="121" name="Google Shape;121;p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203700" y="9563100"/>
            <a:ext cx="18148300" cy="274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2908300" y="9156700"/>
            <a:ext cx="3568700" cy="3568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3"/>
          <p:cNvSpPr txBox="1"/>
          <p:nvPr/>
        </p:nvSpPr>
        <p:spPr>
          <a:xfrm>
            <a:off x="3048000" y="10629900"/>
            <a:ext cx="3302000" cy="6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0950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553" u="none" cap="none" strike="noStrike">
                <a:solidFill>
                  <a:srgbClr val="466456"/>
                </a:solidFill>
                <a:latin typeface="Arial"/>
                <a:ea typeface="Arial"/>
                <a:cs typeface="Arial"/>
                <a:sym typeface="Arial"/>
              </a:rPr>
              <a:t>문제 정의</a:t>
            </a:r>
            <a:endParaRPr/>
          </a:p>
        </p:txBody>
      </p:sp>
      <p:sp>
        <p:nvSpPr>
          <p:cNvPr id="124" name="Google Shape;124;p3"/>
          <p:cNvSpPr txBox="1"/>
          <p:nvPr/>
        </p:nvSpPr>
        <p:spPr>
          <a:xfrm>
            <a:off x="6858000" y="6108700"/>
            <a:ext cx="14960600" cy="14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210" u="none" cap="none" strike="noStrike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OTT 산업 내 플랫폼 간 경쟁이 심화되면서 신규 가입자 확보보다 기존 고객의 유지가 수익성에 직결되는 핵심 요소로 부상</a:t>
            </a:r>
            <a:endParaRPr/>
          </a:p>
        </p:txBody>
      </p:sp>
      <p:sp>
        <p:nvSpPr>
          <p:cNvPr id="125" name="Google Shape;125;p3"/>
          <p:cNvSpPr txBox="1"/>
          <p:nvPr/>
        </p:nvSpPr>
        <p:spPr>
          <a:xfrm>
            <a:off x="6858000" y="10236200"/>
            <a:ext cx="14960600" cy="14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210" u="none" cap="none" strike="noStrike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구독 기반 모델 특성상 반복적인 이탈이 발생하며 이탈 직전 시청 감소 등의 행동 패턴을 사전에 탐지하여 이탈을 방지 필요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7F5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4"/>
          <p:cNvPicPr preferRelativeResize="0"/>
          <p:nvPr/>
        </p:nvPicPr>
        <p:blipFill rotWithShape="1">
          <a:blip r:embed="rId3">
            <a:alphaModFix amt="0"/>
          </a:blip>
          <a:srcRect b="0" l="0" r="0" t="0"/>
          <a:stretch/>
        </p:blipFill>
        <p:spPr>
          <a:xfrm>
            <a:off x="0" y="0"/>
            <a:ext cx="24384000" cy="279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24384000" cy="1371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295400" y="2806700"/>
            <a:ext cx="21793200" cy="12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4"/>
          <p:cNvSpPr txBox="1"/>
          <p:nvPr/>
        </p:nvSpPr>
        <p:spPr>
          <a:xfrm>
            <a:off x="1295400" y="1016000"/>
            <a:ext cx="5918200" cy="4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66" u="none" cap="none" strike="noStrike">
                <a:solidFill>
                  <a:srgbClr val="BACCC3"/>
                </a:solidFill>
                <a:latin typeface="Josefin Sans SemiBold"/>
                <a:ea typeface="Josefin Sans SemiBold"/>
                <a:cs typeface="Josefin Sans SemiBold"/>
                <a:sym typeface="Josefin Sans SemiBold"/>
              </a:rPr>
              <a:t>Chapter 2.</a:t>
            </a:r>
            <a:endParaRPr/>
          </a:p>
        </p:txBody>
      </p:sp>
      <p:sp>
        <p:nvSpPr>
          <p:cNvPr id="135" name="Google Shape;135;p4"/>
          <p:cNvSpPr txBox="1"/>
          <p:nvPr/>
        </p:nvSpPr>
        <p:spPr>
          <a:xfrm>
            <a:off x="1295400" y="1511300"/>
            <a:ext cx="60198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333" u="none" cap="none" strike="noStrike">
                <a:solidFill>
                  <a:srgbClr val="6A7E74"/>
                </a:solidFill>
                <a:latin typeface="Arial"/>
                <a:ea typeface="Arial"/>
                <a:cs typeface="Arial"/>
                <a:sym typeface="Arial"/>
              </a:rPr>
              <a:t>프로젝트 목표</a:t>
            </a:r>
            <a:endParaRPr/>
          </a:p>
        </p:txBody>
      </p:sp>
      <p:pic>
        <p:nvPicPr>
          <p:cNvPr id="136" name="Google Shape;136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641600" y="3619500"/>
            <a:ext cx="19240500" cy="152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819400" y="3784600"/>
            <a:ext cx="1181100" cy="1181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641600" y="5486400"/>
            <a:ext cx="19240500" cy="152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819400" y="5664200"/>
            <a:ext cx="1181100" cy="1181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2705100" y="11125200"/>
            <a:ext cx="19240500" cy="152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2641600" y="7353300"/>
            <a:ext cx="19240500" cy="152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819400" y="11239500"/>
            <a:ext cx="1181100" cy="1181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819400" y="7531100"/>
            <a:ext cx="1181100" cy="1181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4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2641600" y="9232900"/>
            <a:ext cx="19240500" cy="152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4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2819400" y="9398000"/>
            <a:ext cx="1181100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4"/>
          <p:cNvSpPr txBox="1"/>
          <p:nvPr/>
        </p:nvSpPr>
        <p:spPr>
          <a:xfrm>
            <a:off x="3213100" y="4038600"/>
            <a:ext cx="3937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266" u="none" cap="none" strike="noStrike">
                <a:solidFill>
                  <a:srgbClr val="6A7E74"/>
                </a:solidFill>
                <a:latin typeface="Josefin Sans SemiBold"/>
                <a:ea typeface="Josefin Sans SemiBold"/>
                <a:cs typeface="Josefin Sans SemiBold"/>
                <a:sym typeface="Josefin Sans SemiBold"/>
              </a:rPr>
              <a:t>1</a:t>
            </a:r>
            <a:endParaRPr/>
          </a:p>
        </p:txBody>
      </p:sp>
      <p:sp>
        <p:nvSpPr>
          <p:cNvPr id="147" name="Google Shape;147;p4"/>
          <p:cNvSpPr txBox="1"/>
          <p:nvPr/>
        </p:nvSpPr>
        <p:spPr>
          <a:xfrm>
            <a:off x="3175000" y="5943600"/>
            <a:ext cx="457200" cy="6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941" u="none" cap="none" strike="noStrike">
                <a:solidFill>
                  <a:srgbClr val="6A7E74"/>
                </a:solidFill>
                <a:latin typeface="Josefin Sans SemiBold"/>
                <a:ea typeface="Josefin Sans SemiBold"/>
                <a:cs typeface="Josefin Sans SemiBold"/>
                <a:sym typeface="Josefin Sans SemiBold"/>
              </a:rPr>
              <a:t>2</a:t>
            </a:r>
            <a:endParaRPr/>
          </a:p>
        </p:txBody>
      </p:sp>
      <p:sp>
        <p:nvSpPr>
          <p:cNvPr id="148" name="Google Shape;148;p4"/>
          <p:cNvSpPr txBox="1"/>
          <p:nvPr/>
        </p:nvSpPr>
        <p:spPr>
          <a:xfrm>
            <a:off x="3187700" y="11518900"/>
            <a:ext cx="431800" cy="6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941" u="none" cap="none" strike="noStrike">
                <a:solidFill>
                  <a:srgbClr val="6A7E74"/>
                </a:solidFill>
                <a:latin typeface="Josefin Sans SemiBold"/>
                <a:ea typeface="Josefin Sans SemiBold"/>
                <a:cs typeface="Josefin Sans SemiBold"/>
                <a:sym typeface="Josefin Sans SemiBold"/>
              </a:rPr>
              <a:t>5</a:t>
            </a:r>
            <a:endParaRPr/>
          </a:p>
        </p:txBody>
      </p:sp>
      <p:sp>
        <p:nvSpPr>
          <p:cNvPr id="149" name="Google Shape;149;p4"/>
          <p:cNvSpPr txBox="1"/>
          <p:nvPr/>
        </p:nvSpPr>
        <p:spPr>
          <a:xfrm>
            <a:off x="3187700" y="7797800"/>
            <a:ext cx="431800" cy="6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941" u="none" cap="none" strike="noStrike">
                <a:solidFill>
                  <a:srgbClr val="6A7E74"/>
                </a:solidFill>
                <a:latin typeface="Josefin Sans SemiBold"/>
                <a:ea typeface="Josefin Sans SemiBold"/>
                <a:cs typeface="Josefin Sans SemiBold"/>
                <a:sym typeface="Josefin Sans SemiBold"/>
              </a:rPr>
              <a:t>3</a:t>
            </a:r>
            <a:endParaRPr/>
          </a:p>
        </p:txBody>
      </p:sp>
      <p:sp>
        <p:nvSpPr>
          <p:cNvPr id="150" name="Google Shape;150;p4"/>
          <p:cNvSpPr txBox="1"/>
          <p:nvPr/>
        </p:nvSpPr>
        <p:spPr>
          <a:xfrm>
            <a:off x="3175000" y="9677400"/>
            <a:ext cx="444500" cy="6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941" u="none" cap="none" strike="noStrike">
                <a:solidFill>
                  <a:srgbClr val="6A7E74"/>
                </a:solidFill>
                <a:latin typeface="Josefin Sans SemiBold"/>
                <a:ea typeface="Josefin Sans SemiBold"/>
                <a:cs typeface="Josefin Sans SemiBold"/>
                <a:sym typeface="Josefin Sans SemiBold"/>
              </a:rPr>
              <a:t>4</a:t>
            </a:r>
            <a:endParaRPr/>
          </a:p>
        </p:txBody>
      </p:sp>
      <p:sp>
        <p:nvSpPr>
          <p:cNvPr id="151" name="Google Shape;151;p4"/>
          <p:cNvSpPr txBox="1"/>
          <p:nvPr/>
        </p:nvSpPr>
        <p:spPr>
          <a:xfrm>
            <a:off x="6426200" y="4038600"/>
            <a:ext cx="17246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888" u="none" cap="none" strike="noStrike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시청 행동 데이터를 기반으로 고객의 이탈 가능성 예측 모델 개발</a:t>
            </a:r>
            <a:endParaRPr/>
          </a:p>
        </p:txBody>
      </p:sp>
      <p:sp>
        <p:nvSpPr>
          <p:cNvPr id="152" name="Google Shape;152;p4"/>
          <p:cNvSpPr txBox="1"/>
          <p:nvPr/>
        </p:nvSpPr>
        <p:spPr>
          <a:xfrm>
            <a:off x="6667500" y="9652000"/>
            <a:ext cx="108839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888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분석 결과를 토대로 이탈 방지 비즈니스 전략을 제언</a:t>
            </a:r>
            <a:endParaRPr/>
          </a:p>
        </p:txBody>
      </p:sp>
      <p:sp>
        <p:nvSpPr>
          <p:cNvPr id="153" name="Google Shape;153;p4"/>
          <p:cNvSpPr txBox="1"/>
          <p:nvPr/>
        </p:nvSpPr>
        <p:spPr>
          <a:xfrm>
            <a:off x="4533900" y="5905500"/>
            <a:ext cx="15646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888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Feature Engineering 과 XAI를 통해 이탈에 영향을 미치는 핵심 변수 도출</a:t>
            </a:r>
            <a:endParaRPr/>
          </a:p>
        </p:txBody>
      </p:sp>
      <p:sp>
        <p:nvSpPr>
          <p:cNvPr id="154" name="Google Shape;154;p4"/>
          <p:cNvSpPr txBox="1"/>
          <p:nvPr/>
        </p:nvSpPr>
        <p:spPr>
          <a:xfrm>
            <a:off x="7518400" y="11493500"/>
            <a:ext cx="91567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888" u="none" cap="none" strike="noStrike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대시보드와 LLM/RAG 챗봇 형태로 서비스화</a:t>
            </a:r>
            <a:endParaRPr/>
          </a:p>
        </p:txBody>
      </p:sp>
      <p:sp>
        <p:nvSpPr>
          <p:cNvPr id="155" name="Google Shape;155;p4"/>
          <p:cNvSpPr txBox="1"/>
          <p:nvPr/>
        </p:nvSpPr>
        <p:spPr>
          <a:xfrm>
            <a:off x="5359400" y="7785100"/>
            <a:ext cx="14414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888" u="none" cap="none" strike="noStrike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머신러닝 및 딥러닝 등 다양한 알고리즘을 실제 비즈니스 문제에 적용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7F5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" name="Google Shape;161;p5"/>
          <p:cNvPicPr preferRelativeResize="0"/>
          <p:nvPr/>
        </p:nvPicPr>
        <p:blipFill rotWithShape="1">
          <a:blip r:embed="rId3">
            <a:alphaModFix amt="0"/>
          </a:blip>
          <a:srcRect b="0" l="0" r="0" t="0"/>
          <a:stretch/>
        </p:blipFill>
        <p:spPr>
          <a:xfrm>
            <a:off x="0" y="0"/>
            <a:ext cx="24384000" cy="279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24384000" cy="1371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295400" y="2806700"/>
            <a:ext cx="21793200" cy="1270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5"/>
          <p:cNvSpPr txBox="1"/>
          <p:nvPr/>
        </p:nvSpPr>
        <p:spPr>
          <a:xfrm>
            <a:off x="1295400" y="1016000"/>
            <a:ext cx="5918200" cy="4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66" u="none" cap="none" strike="noStrike">
                <a:solidFill>
                  <a:srgbClr val="BACCC3"/>
                </a:solidFill>
                <a:latin typeface="Josefin Sans SemiBold"/>
                <a:ea typeface="Josefin Sans SemiBold"/>
                <a:cs typeface="Josefin Sans SemiBold"/>
                <a:sym typeface="Josefin Sans SemiBold"/>
              </a:rPr>
              <a:t>Chapter 3.</a:t>
            </a:r>
            <a:endParaRPr/>
          </a:p>
        </p:txBody>
      </p:sp>
      <p:sp>
        <p:nvSpPr>
          <p:cNvPr id="165" name="Google Shape;165;p5"/>
          <p:cNvSpPr txBox="1"/>
          <p:nvPr/>
        </p:nvSpPr>
        <p:spPr>
          <a:xfrm>
            <a:off x="1295400" y="1511300"/>
            <a:ext cx="121793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333" u="none" cap="none" strike="noStrike">
                <a:solidFill>
                  <a:srgbClr val="6A7E74"/>
                </a:solidFill>
                <a:latin typeface="Arial"/>
                <a:ea typeface="Arial"/>
                <a:cs typeface="Arial"/>
                <a:sym typeface="Arial"/>
              </a:rPr>
              <a:t>수행내용 - 데이터 핸들링 및 전처리</a:t>
            </a:r>
            <a:endParaRPr/>
          </a:p>
        </p:txBody>
      </p:sp>
      <p:pic>
        <p:nvPicPr>
          <p:cNvPr id="166" name="Google Shape;166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778000" y="3949700"/>
            <a:ext cx="20828000" cy="254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 rot="5400000">
            <a:off x="6261100" y="5207000"/>
            <a:ext cx="1270000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778000" y="6870700"/>
            <a:ext cx="20828000" cy="254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 rot="5400000">
            <a:off x="6261100" y="8128000"/>
            <a:ext cx="1270000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778000" y="9728200"/>
            <a:ext cx="20828000" cy="254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 rot="5400000">
            <a:off x="6261100" y="10985500"/>
            <a:ext cx="1270000" cy="2540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5"/>
          <p:cNvSpPr txBox="1"/>
          <p:nvPr/>
        </p:nvSpPr>
        <p:spPr>
          <a:xfrm>
            <a:off x="2730500" y="4876800"/>
            <a:ext cx="3378200" cy="7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0" u="none" cap="none" strike="noStrike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활용 데이터</a:t>
            </a:r>
            <a:endParaRPr/>
          </a:p>
        </p:txBody>
      </p:sp>
      <p:sp>
        <p:nvSpPr>
          <p:cNvPr id="173" name="Google Shape;173;p5"/>
          <p:cNvSpPr txBox="1"/>
          <p:nvPr/>
        </p:nvSpPr>
        <p:spPr>
          <a:xfrm>
            <a:off x="7378700" y="4857458"/>
            <a:ext cx="15100300" cy="6036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1" marL="0" marR="0" rtl="0" algn="l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내부 사용자 프로필 데이터, 프로모션 참여 여부, 시청 이력 데이터를 종합적으로 활용</a:t>
            </a:r>
            <a:endParaRPr b="0" i="0" sz="3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5"/>
          <p:cNvSpPr txBox="1"/>
          <p:nvPr/>
        </p:nvSpPr>
        <p:spPr>
          <a:xfrm>
            <a:off x="2336800" y="7797800"/>
            <a:ext cx="4178300" cy="7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파생 변수 설계</a:t>
            </a:r>
            <a:endParaRPr b="0" i="0" sz="4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5"/>
          <p:cNvSpPr txBox="1"/>
          <p:nvPr/>
        </p:nvSpPr>
        <p:spPr>
          <a:xfrm>
            <a:off x="7505700" y="7384872"/>
            <a:ext cx="14719300" cy="14543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1" marL="0" marR="0" rtl="0" algn="l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기본 데이터를 바탕으로 고객의 행동 변화를 잘 나타낼 수 있는 대안 변수를 기획하고 생성</a:t>
            </a:r>
            <a:endParaRPr b="0" i="0" sz="35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5"/>
          <p:cNvSpPr txBox="1"/>
          <p:nvPr/>
        </p:nvSpPr>
        <p:spPr>
          <a:xfrm>
            <a:off x="2413000" y="10655300"/>
            <a:ext cx="4013200" cy="7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데이터 전처리</a:t>
            </a:r>
            <a:endParaRPr/>
          </a:p>
        </p:txBody>
      </p:sp>
      <p:sp>
        <p:nvSpPr>
          <p:cNvPr id="177" name="Google Shape;177;p5"/>
          <p:cNvSpPr txBox="1"/>
          <p:nvPr/>
        </p:nvSpPr>
        <p:spPr>
          <a:xfrm>
            <a:off x="7505700" y="10180061"/>
            <a:ext cx="14363700" cy="16362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1" marL="0" marR="0" rtl="0" algn="l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결측치 처리 및 데이터 변환을 수행하며 이탈 고객 데이터가 적은 현상을 해결하기 위해 데이터 불균형 처리 기법을 적용</a:t>
            </a:r>
            <a:endParaRPr b="0" i="0" sz="35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7F5"/>
        </a:solid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Google Shape;183;p6"/>
          <p:cNvPicPr preferRelativeResize="0"/>
          <p:nvPr/>
        </p:nvPicPr>
        <p:blipFill rotWithShape="1">
          <a:blip r:embed="rId3">
            <a:alphaModFix amt="0"/>
          </a:blip>
          <a:srcRect b="0" l="0" r="0" t="0"/>
          <a:stretch/>
        </p:blipFill>
        <p:spPr>
          <a:xfrm>
            <a:off x="0" y="0"/>
            <a:ext cx="24384000" cy="279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24384000" cy="1371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295400" y="2806700"/>
            <a:ext cx="21793200" cy="12700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6"/>
          <p:cNvSpPr txBox="1"/>
          <p:nvPr/>
        </p:nvSpPr>
        <p:spPr>
          <a:xfrm>
            <a:off x="1295400" y="1016000"/>
            <a:ext cx="5918200" cy="4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66" u="none" cap="none" strike="noStrike">
                <a:solidFill>
                  <a:srgbClr val="BACCC3"/>
                </a:solidFill>
                <a:latin typeface="Josefin Sans SemiBold"/>
                <a:ea typeface="Josefin Sans SemiBold"/>
                <a:cs typeface="Josefin Sans SemiBold"/>
                <a:sym typeface="Josefin Sans SemiBold"/>
              </a:rPr>
              <a:t>Chapter 3.</a:t>
            </a:r>
            <a:endParaRPr/>
          </a:p>
        </p:txBody>
      </p:sp>
      <p:sp>
        <p:nvSpPr>
          <p:cNvPr id="187" name="Google Shape;187;p6"/>
          <p:cNvSpPr txBox="1"/>
          <p:nvPr/>
        </p:nvSpPr>
        <p:spPr>
          <a:xfrm>
            <a:off x="1295400" y="1511300"/>
            <a:ext cx="96139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333" u="none" cap="none" strike="noStrike">
                <a:solidFill>
                  <a:srgbClr val="6A7E74"/>
                </a:solidFill>
                <a:latin typeface="Arial"/>
                <a:ea typeface="Arial"/>
                <a:cs typeface="Arial"/>
                <a:sym typeface="Arial"/>
              </a:rPr>
              <a:t>수행내용 - 모델링 및 평가 지표</a:t>
            </a:r>
            <a:endParaRPr/>
          </a:p>
        </p:txBody>
      </p:sp>
      <p:pic>
        <p:nvPicPr>
          <p:cNvPr id="188" name="Google Shape;188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 rot="5400000">
            <a:off x="12039600" y="8432800"/>
            <a:ext cx="304800" cy="254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89" name="Google Shape;189;p6"/>
          <p:cNvGraphicFramePr/>
          <p:nvPr/>
        </p:nvGraphicFramePr>
        <p:xfrm>
          <a:off x="3810000" y="3352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{96628D57-9080-41F5-BF4B-C3B86ACC4C00}</a:tableStyleId>
              </a:tblPr>
              <a:tblGrid>
                <a:gridCol w="7111075"/>
              </a:tblGrid>
              <a:tr h="1243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3333" u="none" cap="none" strike="noStrike">
                          <a:solidFill>
                            <a:srgbClr val="59595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모델링</a:t>
                      </a:r>
                      <a:endParaRPr sz="1100" u="none" cap="none" strike="noStrike"/>
                    </a:p>
                  </a:txBody>
                  <a:tcPr marT="87850" marB="87850" marR="25400" marL="254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711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3733" u="none" cap="none" strike="noStrike">
                          <a:solidFill>
                            <a:srgbClr val="46645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Logistic 회귀</a:t>
                      </a:r>
                      <a:endParaRPr sz="1100" u="none" cap="none" strike="noStrike"/>
                    </a:p>
                  </a:txBody>
                  <a:tcPr marT="95325" marB="95325" marR="25400" marL="254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8F7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3DFD8"/>
                    </a:solidFill>
                  </a:tcPr>
                </a:tc>
              </a:tr>
              <a:tr h="1711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3733" u="none" cap="none" strike="noStrike">
                          <a:solidFill>
                            <a:srgbClr val="46645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의사결정나무</a:t>
                      </a:r>
                      <a:endParaRPr sz="1100" u="none" cap="none" strike="noStrike"/>
                    </a:p>
                  </a:txBody>
                  <a:tcPr marT="95325" marB="95325" marR="25400" marL="254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8F7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8F7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3DFD8"/>
                    </a:solidFill>
                  </a:tcPr>
                </a:tc>
              </a:tr>
              <a:tr h="17136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3733" u="none" cap="none" strike="noStrike">
                          <a:solidFill>
                            <a:srgbClr val="46645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Random Forest</a:t>
                      </a:r>
                      <a:endParaRPr sz="1100" u="none" cap="none" strike="noStrike"/>
                    </a:p>
                  </a:txBody>
                  <a:tcPr marT="95325" marB="95325" marR="25400" marL="254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8F7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8F7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3DFD8"/>
                    </a:solidFill>
                  </a:tcPr>
                </a:tc>
              </a:tr>
              <a:tr h="17136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3733" u="none" cap="none" strike="noStrike">
                          <a:solidFill>
                            <a:srgbClr val="46645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XGBoost</a:t>
                      </a:r>
                      <a:endParaRPr sz="1100" u="none" cap="none" strike="noStrike"/>
                    </a:p>
                  </a:txBody>
                  <a:tcPr marT="95325" marB="95325" marR="25400" marL="254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8F7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8F7F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3DFD8"/>
                    </a:solidFill>
                  </a:tcPr>
                </a:tc>
              </a:tr>
              <a:tr h="17136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3733" u="none" cap="none" strike="noStrike">
                          <a:solidFill>
                            <a:srgbClr val="46645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Neural Network</a:t>
                      </a:r>
                      <a:endParaRPr sz="1100" u="none" cap="none" strike="noStrike"/>
                    </a:p>
                  </a:txBody>
                  <a:tcPr marT="95325" marB="95325" marR="25400" marL="254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8F7F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3DFD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90" name="Google Shape;190;p6"/>
          <p:cNvGraphicFramePr/>
          <p:nvPr/>
        </p:nvGraphicFramePr>
        <p:xfrm>
          <a:off x="10922000" y="5003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{96628D57-9080-41F5-BF4B-C3B86ACC4C00}</a:tableStyleId>
              </a:tblPr>
              <a:tblGrid>
                <a:gridCol w="2540000"/>
              </a:tblGrid>
              <a:tr h="1243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85350" marB="85350" marR="25400" marL="254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</a:tr>
              <a:tr h="1711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85350" marB="85350" marR="25400" marL="254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</a:tr>
              <a:tr h="1711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85350" marB="85350" marR="25400" marL="254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DF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</a:tr>
              <a:tr h="17136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85350" marB="85350" marR="25400" marL="254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DF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91" name="Google Shape;191;p6"/>
          <p:cNvGraphicFramePr/>
          <p:nvPr/>
        </p:nvGraphicFramePr>
        <p:xfrm>
          <a:off x="13462000" y="5003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{96628D57-9080-41F5-BF4B-C3B86ACC4C00}</a:tableStyleId>
              </a:tblPr>
              <a:tblGrid>
                <a:gridCol w="7111075"/>
              </a:tblGrid>
              <a:tr h="1243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3333" u="none" cap="none" strike="noStrike">
                          <a:solidFill>
                            <a:srgbClr val="59595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평가지표</a:t>
                      </a:r>
                      <a:endParaRPr sz="1100" u="none" cap="none" strike="noStrike"/>
                    </a:p>
                  </a:txBody>
                  <a:tcPr marT="87850" marB="87850" marR="25400" marL="254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711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3733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재현율</a:t>
                      </a:r>
                      <a:endParaRPr sz="1100" u="none" cap="none" strike="noStrike"/>
                    </a:p>
                  </a:txBody>
                  <a:tcPr marT="95325" marB="95325" marR="25400" marL="254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ACCC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7E74"/>
                    </a:solidFill>
                  </a:tcPr>
                </a:tc>
              </a:tr>
              <a:tr h="17118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3733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정밀도</a:t>
                      </a:r>
                      <a:endParaRPr sz="1100" u="none" cap="none" strike="noStrike"/>
                    </a:p>
                  </a:txBody>
                  <a:tcPr marT="95325" marB="95325" marR="25400" marL="254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ACCC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ACCC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7E74"/>
                    </a:solidFill>
                  </a:tcPr>
                </a:tc>
              </a:tr>
              <a:tr h="17136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3733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F1-Score &amp; PR-AUC</a:t>
                      </a:r>
                      <a:endParaRPr sz="1100" u="none" cap="none" strike="noStrike"/>
                    </a:p>
                  </a:txBody>
                  <a:tcPr marT="95325" marB="95325" marR="25400" marL="254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ACCC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7E7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7F5"/>
        </a:solid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7" name="Google Shape;197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24384000" cy="1371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7"/>
          <p:cNvPicPr preferRelativeResize="0"/>
          <p:nvPr/>
        </p:nvPicPr>
        <p:blipFill rotWithShape="1">
          <a:blip r:embed="rId4">
            <a:alphaModFix amt="7000"/>
          </a:blip>
          <a:srcRect b="0" l="0" r="0" t="0"/>
          <a:stretch/>
        </p:blipFill>
        <p:spPr>
          <a:xfrm rot="-480000">
            <a:off x="1143000" y="8420100"/>
            <a:ext cx="22009100" cy="393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10799999">
            <a:off x="3048000" y="9728200"/>
            <a:ext cx="342900" cy="342900"/>
          </a:xfrm>
          <a:prstGeom prst="rect">
            <a:avLst/>
          </a:prstGeom>
          <a:noFill/>
          <a:ln>
            <a:noFill/>
          </a:ln>
          <a:effectLst>
            <a:outerShdw blurRad="13752" dir="2700000" dist="31735">
              <a:srgbClr val="000000">
                <a:alpha val="50196"/>
              </a:srgbClr>
            </a:outerShdw>
          </a:effectLst>
        </p:spPr>
      </p:pic>
      <p:pic>
        <p:nvPicPr>
          <p:cNvPr id="200" name="Google Shape;200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 rot="5399999">
            <a:off x="2120900" y="8636000"/>
            <a:ext cx="2171700" cy="25400"/>
          </a:xfrm>
          <a:prstGeom prst="rect">
            <a:avLst/>
          </a:prstGeom>
          <a:noFill/>
          <a:ln>
            <a:noFill/>
          </a:ln>
          <a:effectLst>
            <a:outerShdw blurRad="762" dir="2700000" dist="1758">
              <a:srgbClr val="000000">
                <a:alpha val="50196"/>
              </a:srgbClr>
            </a:outerShdw>
          </a:effectLst>
        </p:spPr>
      </p:pic>
      <p:pic>
        <p:nvPicPr>
          <p:cNvPr id="201" name="Google Shape;201;p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098800" y="7404100"/>
            <a:ext cx="190500" cy="190500"/>
          </a:xfrm>
          <a:prstGeom prst="rect">
            <a:avLst/>
          </a:prstGeom>
          <a:noFill/>
          <a:ln>
            <a:noFill/>
          </a:ln>
          <a:effectLst>
            <a:outerShdw blurRad="7620" dir="2700000" dist="17585">
              <a:srgbClr val="000000">
                <a:alpha val="50196"/>
              </a:srgbClr>
            </a:outerShdw>
          </a:effectLst>
        </p:spPr>
      </p:pic>
      <p:pic>
        <p:nvPicPr>
          <p:cNvPr id="202" name="Google Shape;202;p7"/>
          <p:cNvPicPr preferRelativeResize="0"/>
          <p:nvPr/>
        </p:nvPicPr>
        <p:blipFill rotWithShape="1">
          <a:blip r:embed="rId8">
            <a:alphaModFix amt="75000"/>
          </a:blip>
          <a:srcRect b="0" l="0" r="0" t="0"/>
          <a:stretch/>
        </p:blipFill>
        <p:spPr>
          <a:xfrm>
            <a:off x="2781300" y="3644900"/>
            <a:ext cx="5588000" cy="114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7"/>
          <p:cNvPicPr preferRelativeResize="0"/>
          <p:nvPr/>
        </p:nvPicPr>
        <p:blipFill rotWithShape="1">
          <a:blip r:embed="rId9">
            <a:alphaModFix amt="75000"/>
          </a:blip>
          <a:srcRect b="0" l="0" r="0" t="0"/>
          <a:stretch/>
        </p:blipFill>
        <p:spPr>
          <a:xfrm>
            <a:off x="9398000" y="3644900"/>
            <a:ext cx="5588000" cy="114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7"/>
          <p:cNvPicPr preferRelativeResize="0"/>
          <p:nvPr/>
        </p:nvPicPr>
        <p:blipFill rotWithShape="1">
          <a:blip r:embed="rId10">
            <a:alphaModFix amt="75000"/>
          </a:blip>
          <a:srcRect b="0" l="0" r="0" t="0"/>
          <a:stretch/>
        </p:blipFill>
        <p:spPr>
          <a:xfrm>
            <a:off x="16014700" y="3644900"/>
            <a:ext cx="5588000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7"/>
          <p:cNvSpPr txBox="1"/>
          <p:nvPr/>
        </p:nvSpPr>
        <p:spPr>
          <a:xfrm>
            <a:off x="2997200" y="3987800"/>
            <a:ext cx="5168900" cy="46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1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6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데이터 탐색 및 전처리</a:t>
            </a:r>
            <a:endParaRPr/>
          </a:p>
        </p:txBody>
      </p:sp>
      <p:sp>
        <p:nvSpPr>
          <p:cNvPr id="206" name="Google Shape;206;p7"/>
          <p:cNvSpPr txBox="1"/>
          <p:nvPr/>
        </p:nvSpPr>
        <p:spPr>
          <a:xfrm>
            <a:off x="9601200" y="3987800"/>
            <a:ext cx="5168900" cy="46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1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6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머신러닝/딥러닝 모델링</a:t>
            </a:r>
            <a:endParaRPr b="0" i="0" sz="2666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7"/>
          <p:cNvSpPr txBox="1"/>
          <p:nvPr/>
        </p:nvSpPr>
        <p:spPr>
          <a:xfrm>
            <a:off x="16217900" y="3987800"/>
            <a:ext cx="5168900" cy="46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1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6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결과 시각화 및 서비스 구축</a:t>
            </a:r>
            <a:endParaRPr/>
          </a:p>
        </p:txBody>
      </p:sp>
      <p:sp>
        <p:nvSpPr>
          <p:cNvPr id="208" name="Google Shape;208;p7"/>
          <p:cNvSpPr txBox="1"/>
          <p:nvPr/>
        </p:nvSpPr>
        <p:spPr>
          <a:xfrm>
            <a:off x="3530600" y="7264400"/>
            <a:ext cx="3251200" cy="46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3850" lIns="0" spcFirstLastPara="1" rIns="0" wrap="square" tIns="3385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6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1~2주차</a:t>
            </a:r>
            <a:endParaRPr/>
          </a:p>
        </p:txBody>
      </p:sp>
      <p:sp>
        <p:nvSpPr>
          <p:cNvPr id="209" name="Google Shape;209;p7"/>
          <p:cNvSpPr txBox="1"/>
          <p:nvPr/>
        </p:nvSpPr>
        <p:spPr>
          <a:xfrm>
            <a:off x="6794500" y="11544300"/>
            <a:ext cx="3251200" cy="46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3850" lIns="0" spcFirstLastPara="1" rIns="0" wrap="square" tIns="3385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6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3~4주차</a:t>
            </a:r>
            <a:endParaRPr/>
          </a:p>
        </p:txBody>
      </p:sp>
      <p:sp>
        <p:nvSpPr>
          <p:cNvPr id="210" name="Google Shape;210;p7"/>
          <p:cNvSpPr txBox="1"/>
          <p:nvPr/>
        </p:nvSpPr>
        <p:spPr>
          <a:xfrm>
            <a:off x="10109200" y="6299200"/>
            <a:ext cx="3251200" cy="46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3850" lIns="0" spcFirstLastPara="1" rIns="0" wrap="square" tIns="3385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6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5~6주차</a:t>
            </a:r>
            <a:endParaRPr/>
          </a:p>
        </p:txBody>
      </p:sp>
      <p:sp>
        <p:nvSpPr>
          <p:cNvPr id="211" name="Google Shape;211;p7"/>
          <p:cNvSpPr txBox="1"/>
          <p:nvPr/>
        </p:nvSpPr>
        <p:spPr>
          <a:xfrm>
            <a:off x="16675100" y="5334000"/>
            <a:ext cx="3251200" cy="46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3850" lIns="0" spcFirstLastPara="1" rIns="0" wrap="square" tIns="3385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6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9~10주차</a:t>
            </a:r>
            <a:endParaRPr/>
          </a:p>
        </p:txBody>
      </p:sp>
      <p:sp>
        <p:nvSpPr>
          <p:cNvPr id="212" name="Google Shape;212;p7"/>
          <p:cNvSpPr txBox="1"/>
          <p:nvPr/>
        </p:nvSpPr>
        <p:spPr>
          <a:xfrm>
            <a:off x="13360400" y="10579100"/>
            <a:ext cx="3251200" cy="46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3850" lIns="0" spcFirstLastPara="1" rIns="0" wrap="square" tIns="3385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6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7~8주차</a:t>
            </a:r>
            <a:endParaRPr/>
          </a:p>
        </p:txBody>
      </p:sp>
      <p:sp>
        <p:nvSpPr>
          <p:cNvPr id="213" name="Google Shape;213;p7"/>
          <p:cNvSpPr txBox="1"/>
          <p:nvPr/>
        </p:nvSpPr>
        <p:spPr>
          <a:xfrm>
            <a:off x="19926300" y="9613900"/>
            <a:ext cx="3263900" cy="46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3850" lIns="0" spcFirstLastPara="1" rIns="0" wrap="square" tIns="3385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6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11주차</a:t>
            </a:r>
            <a:endParaRPr/>
          </a:p>
        </p:txBody>
      </p:sp>
      <p:sp>
        <p:nvSpPr>
          <p:cNvPr id="214" name="Google Shape;214;p7"/>
          <p:cNvSpPr txBox="1"/>
          <p:nvPr/>
        </p:nvSpPr>
        <p:spPr>
          <a:xfrm>
            <a:off x="3492500" y="7835900"/>
            <a:ext cx="3390900" cy="7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1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OTT 도메인 비즈니스 지식 학습 &amp; EDA(탐색적 데이터 분석)</a:t>
            </a:r>
            <a:endParaRPr/>
          </a:p>
        </p:txBody>
      </p:sp>
      <p:sp>
        <p:nvSpPr>
          <p:cNvPr id="215" name="Google Shape;215;p7"/>
          <p:cNvSpPr txBox="1"/>
          <p:nvPr/>
        </p:nvSpPr>
        <p:spPr>
          <a:xfrm>
            <a:off x="6794500" y="10693400"/>
            <a:ext cx="3060700" cy="787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1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결측치/이상치 처리 및</a:t>
            </a:r>
            <a:endParaRPr/>
          </a:p>
          <a:p>
            <a:pPr indent="0" lvl="0" marL="0" marR="0" rtl="0" algn="l">
              <a:lnSpc>
                <a:spcPct val="141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데이터 전처리</a:t>
            </a:r>
            <a:endParaRPr/>
          </a:p>
        </p:txBody>
      </p:sp>
      <p:sp>
        <p:nvSpPr>
          <p:cNvPr id="216" name="Google Shape;216;p7"/>
          <p:cNvSpPr txBox="1"/>
          <p:nvPr/>
        </p:nvSpPr>
        <p:spPr>
          <a:xfrm>
            <a:off x="10109200" y="6858000"/>
            <a:ext cx="3225800" cy="7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1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데이터 불균형 핸들링 / Feature Selection</a:t>
            </a:r>
            <a:endParaRPr/>
          </a:p>
        </p:txBody>
      </p:sp>
      <p:sp>
        <p:nvSpPr>
          <p:cNvPr id="217" name="Google Shape;217;p7"/>
          <p:cNvSpPr txBox="1"/>
          <p:nvPr/>
        </p:nvSpPr>
        <p:spPr>
          <a:xfrm>
            <a:off x="16649700" y="5892800"/>
            <a:ext cx="3784600" cy="7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1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XAI 요인 분석 및 예측 결과 모니터링 시각화 대시보드(태블로) 개발</a:t>
            </a:r>
            <a:endParaRPr/>
          </a:p>
        </p:txBody>
      </p:sp>
      <p:sp>
        <p:nvSpPr>
          <p:cNvPr id="218" name="Google Shape;218;p7"/>
          <p:cNvSpPr txBox="1"/>
          <p:nvPr/>
        </p:nvSpPr>
        <p:spPr>
          <a:xfrm>
            <a:off x="13360400" y="9296400"/>
            <a:ext cx="35687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1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ML/DL 모델 학습, </a:t>
            </a:r>
            <a:b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Cross Validation &amp; </a:t>
            </a:r>
            <a:b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Hyper Parameter Optimization</a:t>
            </a:r>
            <a:endParaRPr/>
          </a:p>
        </p:txBody>
      </p:sp>
      <p:sp>
        <p:nvSpPr>
          <p:cNvPr id="219" name="Google Shape;219;p7"/>
          <p:cNvSpPr txBox="1"/>
          <p:nvPr/>
        </p:nvSpPr>
        <p:spPr>
          <a:xfrm>
            <a:off x="19926300" y="8331200"/>
            <a:ext cx="30734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1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자연어 질의 기반 LLM/RAG  분석 챗봇 설계 및 구현 및　최종 발표 준비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0" name="Google Shape;220;p7"/>
          <p:cNvPicPr preferRelativeResize="0"/>
          <p:nvPr/>
        </p:nvPicPr>
        <p:blipFill rotWithShape="1">
          <a:blip r:embed="rId11">
            <a:alphaModFix amt="0"/>
          </a:blip>
          <a:srcRect b="0" l="0" r="0" t="0"/>
          <a:stretch/>
        </p:blipFill>
        <p:spPr>
          <a:xfrm>
            <a:off x="0" y="0"/>
            <a:ext cx="24384000" cy="279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7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295400" y="2806700"/>
            <a:ext cx="21793200" cy="1270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7"/>
          <p:cNvSpPr txBox="1"/>
          <p:nvPr/>
        </p:nvSpPr>
        <p:spPr>
          <a:xfrm>
            <a:off x="1295400" y="1016000"/>
            <a:ext cx="5918200" cy="4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66" u="none" cap="none" strike="noStrike">
                <a:solidFill>
                  <a:srgbClr val="BACCC3"/>
                </a:solidFill>
                <a:latin typeface="Josefin Sans SemiBold"/>
                <a:ea typeface="Josefin Sans SemiBold"/>
                <a:cs typeface="Josefin Sans SemiBold"/>
                <a:sym typeface="Josefin Sans SemiBold"/>
              </a:rPr>
              <a:t>Chapter 4.</a:t>
            </a:r>
            <a:endParaRPr/>
          </a:p>
        </p:txBody>
      </p:sp>
      <p:sp>
        <p:nvSpPr>
          <p:cNvPr id="223" name="Google Shape;223;p7"/>
          <p:cNvSpPr txBox="1"/>
          <p:nvPr/>
        </p:nvSpPr>
        <p:spPr>
          <a:xfrm>
            <a:off x="1295400" y="1511300"/>
            <a:ext cx="60198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333" u="none" cap="none" strike="noStrike">
                <a:solidFill>
                  <a:srgbClr val="6A7E74"/>
                </a:solidFill>
                <a:latin typeface="Arial"/>
                <a:ea typeface="Arial"/>
                <a:cs typeface="Arial"/>
                <a:sym typeface="Arial"/>
              </a:rPr>
              <a:t>수행 계획</a:t>
            </a:r>
            <a:endParaRPr/>
          </a:p>
        </p:txBody>
      </p:sp>
      <p:pic>
        <p:nvPicPr>
          <p:cNvPr id="224" name="Google Shape;224;p7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9601200" y="8775700"/>
            <a:ext cx="342900" cy="342900"/>
          </a:xfrm>
          <a:prstGeom prst="rect">
            <a:avLst/>
          </a:prstGeom>
          <a:noFill/>
          <a:ln>
            <a:noFill/>
          </a:ln>
          <a:effectLst>
            <a:outerShdw blurRad="13752" dir="2700000" dist="31735">
              <a:srgbClr val="000000">
                <a:alpha val="50196"/>
              </a:srgbClr>
            </a:outerShdw>
          </a:effectLst>
        </p:spPr>
      </p:pic>
      <p:pic>
        <p:nvPicPr>
          <p:cNvPr id="225" name="Google Shape;225;p7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 rot="5399999">
            <a:off x="8712200" y="7708900"/>
            <a:ext cx="2108200" cy="25400"/>
          </a:xfrm>
          <a:prstGeom prst="rect">
            <a:avLst/>
          </a:prstGeom>
          <a:noFill/>
          <a:ln>
            <a:noFill/>
          </a:ln>
          <a:effectLst>
            <a:outerShdw blurRad="762" dir="2700000" dist="1758">
              <a:srgbClr val="000000">
                <a:alpha val="50196"/>
              </a:srgbClr>
            </a:outerShdw>
          </a:effectLst>
        </p:spPr>
      </p:pic>
      <p:pic>
        <p:nvPicPr>
          <p:cNvPr id="226" name="Google Shape;226;p7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9677400" y="6477000"/>
            <a:ext cx="190500" cy="190500"/>
          </a:xfrm>
          <a:prstGeom prst="rect">
            <a:avLst/>
          </a:prstGeom>
          <a:noFill/>
          <a:ln>
            <a:noFill/>
          </a:ln>
          <a:effectLst>
            <a:outerShdw blurRad="7620" dir="2700000" dist="17585">
              <a:srgbClr val="000000">
                <a:alpha val="50196"/>
              </a:srgbClr>
            </a:outerShdw>
          </a:effectLst>
        </p:spPr>
      </p:pic>
      <p:pic>
        <p:nvPicPr>
          <p:cNvPr id="227" name="Google Shape;227;p7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16256000" y="7785100"/>
            <a:ext cx="342900" cy="342900"/>
          </a:xfrm>
          <a:prstGeom prst="rect">
            <a:avLst/>
          </a:prstGeom>
          <a:noFill/>
          <a:ln>
            <a:noFill/>
          </a:ln>
          <a:effectLst>
            <a:outerShdw blurRad="13752" dir="2700000" dist="31735">
              <a:srgbClr val="000000">
                <a:alpha val="50196"/>
              </a:srgbClr>
            </a:outerShdw>
          </a:effectLst>
        </p:spPr>
      </p:pic>
      <p:pic>
        <p:nvPicPr>
          <p:cNvPr id="228" name="Google Shape;228;p7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 rot="5399999">
            <a:off x="15316200" y="6769100"/>
            <a:ext cx="2222500" cy="25400"/>
          </a:xfrm>
          <a:prstGeom prst="rect">
            <a:avLst/>
          </a:prstGeom>
          <a:noFill/>
          <a:ln>
            <a:noFill/>
          </a:ln>
          <a:effectLst>
            <a:outerShdw blurRad="762" dir="2700000" dist="1758">
              <a:srgbClr val="000000">
                <a:alpha val="50196"/>
              </a:srgbClr>
            </a:outerShdw>
          </a:effectLst>
        </p:spPr>
      </p:pic>
      <p:pic>
        <p:nvPicPr>
          <p:cNvPr id="229" name="Google Shape;229;p7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16332200" y="5486400"/>
            <a:ext cx="190500" cy="190500"/>
          </a:xfrm>
          <a:prstGeom prst="rect">
            <a:avLst/>
          </a:prstGeom>
          <a:noFill/>
          <a:ln>
            <a:noFill/>
          </a:ln>
          <a:effectLst>
            <a:outerShdw blurRad="7620" dir="2700000" dist="17585">
              <a:srgbClr val="000000">
                <a:alpha val="50196"/>
              </a:srgbClr>
            </a:outerShdw>
          </a:effectLst>
        </p:spPr>
      </p:pic>
      <p:pic>
        <p:nvPicPr>
          <p:cNvPr id="230" name="Google Shape;230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10800000">
            <a:off x="6299200" y="9232900"/>
            <a:ext cx="342900" cy="342900"/>
          </a:xfrm>
          <a:prstGeom prst="rect">
            <a:avLst/>
          </a:prstGeom>
          <a:noFill/>
          <a:ln>
            <a:noFill/>
          </a:ln>
          <a:effectLst>
            <a:outerShdw blurRad="13752" dir="14520000" dist="31735">
              <a:srgbClr val="000000">
                <a:alpha val="50196"/>
              </a:srgbClr>
            </a:outerShdw>
          </a:effectLst>
        </p:spPr>
      </p:pic>
      <p:pic>
        <p:nvPicPr>
          <p:cNvPr id="231" name="Google Shape;231;p7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 rot="-5400000">
            <a:off x="5410200" y="10617200"/>
            <a:ext cx="2108200" cy="25400"/>
          </a:xfrm>
          <a:prstGeom prst="rect">
            <a:avLst/>
          </a:prstGeom>
          <a:noFill/>
          <a:ln>
            <a:noFill/>
          </a:ln>
          <a:effectLst>
            <a:outerShdw blurRad="762" dir="14520000" dist="1758">
              <a:srgbClr val="000000">
                <a:alpha val="50196"/>
              </a:srgbClr>
            </a:outerShdw>
          </a:effectLst>
        </p:spPr>
      </p:pic>
      <p:pic>
        <p:nvPicPr>
          <p:cNvPr id="232" name="Google Shape;232;p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 rot="10800000">
            <a:off x="6375400" y="11684000"/>
            <a:ext cx="190500" cy="190500"/>
          </a:xfrm>
          <a:prstGeom prst="rect">
            <a:avLst/>
          </a:prstGeom>
          <a:noFill/>
          <a:ln>
            <a:noFill/>
          </a:ln>
          <a:effectLst>
            <a:outerShdw blurRad="7620" dir="14520000" dist="17585">
              <a:srgbClr val="000000">
                <a:alpha val="50196"/>
              </a:srgbClr>
            </a:outerShdw>
          </a:effectLst>
        </p:spPr>
      </p:pic>
      <p:pic>
        <p:nvPicPr>
          <p:cNvPr id="233" name="Google Shape;233;p7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 rot="10800000">
            <a:off x="12852400" y="8267700"/>
            <a:ext cx="342900" cy="342900"/>
          </a:xfrm>
          <a:prstGeom prst="rect">
            <a:avLst/>
          </a:prstGeom>
          <a:noFill/>
          <a:ln>
            <a:noFill/>
          </a:ln>
          <a:effectLst>
            <a:outerShdw blurRad="13752" dir="2700000" dist="31735">
              <a:srgbClr val="000000">
                <a:alpha val="50196"/>
              </a:srgbClr>
            </a:outerShdw>
          </a:effectLst>
        </p:spPr>
      </p:pic>
      <p:pic>
        <p:nvPicPr>
          <p:cNvPr id="234" name="Google Shape;234;p7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 rot="-5400000">
            <a:off x="11963400" y="9664700"/>
            <a:ext cx="2108200" cy="25400"/>
          </a:xfrm>
          <a:prstGeom prst="rect">
            <a:avLst/>
          </a:prstGeom>
          <a:noFill/>
          <a:ln>
            <a:noFill/>
          </a:ln>
          <a:effectLst>
            <a:outerShdw blurRad="762" dir="2700000" dist="1758">
              <a:srgbClr val="000000">
                <a:alpha val="50196"/>
              </a:srgbClr>
            </a:outerShdw>
          </a:effectLst>
        </p:spPr>
      </p:pic>
      <p:pic>
        <p:nvPicPr>
          <p:cNvPr id="235" name="Google Shape;235;p7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 rot="10800000">
            <a:off x="12928600" y="10731500"/>
            <a:ext cx="190500" cy="190500"/>
          </a:xfrm>
          <a:prstGeom prst="rect">
            <a:avLst/>
          </a:prstGeom>
          <a:noFill/>
          <a:ln>
            <a:noFill/>
          </a:ln>
          <a:effectLst>
            <a:outerShdw blurRad="7620" dir="2700000" dist="17585">
              <a:srgbClr val="000000">
                <a:alpha val="50196"/>
              </a:srgbClr>
            </a:outerShdw>
          </a:effectLst>
        </p:spPr>
      </p:pic>
      <p:pic>
        <p:nvPicPr>
          <p:cNvPr id="236" name="Google Shape;236;p7"/>
          <p:cNvPicPr preferRelativeResize="0"/>
          <p:nvPr/>
        </p:nvPicPr>
        <p:blipFill rotWithShape="1">
          <a:blip r:embed="rId22">
            <a:alphaModFix/>
          </a:blip>
          <a:srcRect b="0" l="0" r="0" t="0"/>
          <a:stretch/>
        </p:blipFill>
        <p:spPr>
          <a:xfrm rot="10800000">
            <a:off x="19405600" y="7340600"/>
            <a:ext cx="342900" cy="342900"/>
          </a:xfrm>
          <a:prstGeom prst="rect">
            <a:avLst/>
          </a:prstGeom>
          <a:noFill/>
          <a:ln>
            <a:noFill/>
          </a:ln>
          <a:effectLst>
            <a:outerShdw blurRad="13752" dir="2700000" dist="31735">
              <a:srgbClr val="000000">
                <a:alpha val="50196"/>
              </a:srgbClr>
            </a:outerShdw>
          </a:effectLst>
        </p:spPr>
      </p:pic>
      <p:pic>
        <p:nvPicPr>
          <p:cNvPr id="237" name="Google Shape;237;p7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 rot="-5400000">
            <a:off x="18465800" y="8674100"/>
            <a:ext cx="2222500" cy="25400"/>
          </a:xfrm>
          <a:prstGeom prst="rect">
            <a:avLst/>
          </a:prstGeom>
          <a:noFill/>
          <a:ln>
            <a:noFill/>
          </a:ln>
          <a:effectLst>
            <a:outerShdw blurRad="762" dir="2700000" dist="1758">
              <a:srgbClr val="000000">
                <a:alpha val="50196"/>
              </a:srgbClr>
            </a:outerShdw>
          </a:effectLst>
        </p:spPr>
      </p:pic>
      <p:pic>
        <p:nvPicPr>
          <p:cNvPr id="238" name="Google Shape;238;p7"/>
          <p:cNvPicPr preferRelativeResize="0"/>
          <p:nvPr/>
        </p:nvPicPr>
        <p:blipFill rotWithShape="1">
          <a:blip r:embed="rId23">
            <a:alphaModFix/>
          </a:blip>
          <a:srcRect b="0" l="0" r="0" t="0"/>
          <a:stretch/>
        </p:blipFill>
        <p:spPr>
          <a:xfrm rot="10800000">
            <a:off x="19481800" y="9791700"/>
            <a:ext cx="190500" cy="190500"/>
          </a:xfrm>
          <a:prstGeom prst="rect">
            <a:avLst/>
          </a:prstGeom>
          <a:noFill/>
          <a:ln>
            <a:noFill/>
          </a:ln>
          <a:effectLst>
            <a:outerShdw blurRad="7620" dir="2700000" dist="17585">
              <a:srgbClr val="000000">
                <a:alpha val="50196"/>
              </a:srgbClr>
            </a:outerShdw>
          </a:effectLst>
        </p:spPr>
      </p:pic>
      <p:pic>
        <p:nvPicPr>
          <p:cNvPr id="239" name="Google Shape;239;p7"/>
          <p:cNvPicPr preferRelativeResize="0"/>
          <p:nvPr/>
        </p:nvPicPr>
        <p:blipFill rotWithShape="1">
          <a:blip r:embed="rId24">
            <a:alphaModFix/>
          </a:blip>
          <a:srcRect b="0" l="0" r="0" t="0"/>
          <a:stretch/>
        </p:blipFill>
        <p:spPr>
          <a:xfrm>
            <a:off x="8661400" y="3987800"/>
            <a:ext cx="444500" cy="482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7"/>
          <p:cNvPicPr preferRelativeResize="0"/>
          <p:nvPr/>
        </p:nvPicPr>
        <p:blipFill rotWithShape="1">
          <a:blip r:embed="rId24">
            <a:alphaModFix/>
          </a:blip>
          <a:srcRect b="0" l="0" r="0" t="0"/>
          <a:stretch/>
        </p:blipFill>
        <p:spPr>
          <a:xfrm>
            <a:off x="15278100" y="3987800"/>
            <a:ext cx="444500" cy="482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7F5"/>
        </a:solid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6" name="Google Shape;246;p8"/>
          <p:cNvPicPr preferRelativeResize="0"/>
          <p:nvPr/>
        </p:nvPicPr>
        <p:blipFill rotWithShape="1">
          <a:blip r:embed="rId3">
            <a:alphaModFix amt="0"/>
          </a:blip>
          <a:srcRect b="0" l="0" r="0" t="0"/>
          <a:stretch/>
        </p:blipFill>
        <p:spPr>
          <a:xfrm>
            <a:off x="0" y="0"/>
            <a:ext cx="24384000" cy="279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" name="Google Shape;247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24384000" cy="1371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295400" y="2806700"/>
            <a:ext cx="21793200" cy="12700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8"/>
          <p:cNvSpPr txBox="1"/>
          <p:nvPr/>
        </p:nvSpPr>
        <p:spPr>
          <a:xfrm>
            <a:off x="1295400" y="1016000"/>
            <a:ext cx="5918200" cy="4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66" u="none" cap="none" strike="noStrike">
                <a:solidFill>
                  <a:srgbClr val="BACCC3"/>
                </a:solidFill>
                <a:latin typeface="Josefin Sans SemiBold"/>
                <a:ea typeface="Josefin Sans SemiBold"/>
                <a:cs typeface="Josefin Sans SemiBold"/>
                <a:sym typeface="Josefin Sans SemiBold"/>
              </a:rPr>
              <a:t>Chapter 5.</a:t>
            </a:r>
            <a:endParaRPr/>
          </a:p>
        </p:txBody>
      </p:sp>
      <p:sp>
        <p:nvSpPr>
          <p:cNvPr id="250" name="Google Shape;250;p8"/>
          <p:cNvSpPr txBox="1"/>
          <p:nvPr/>
        </p:nvSpPr>
        <p:spPr>
          <a:xfrm>
            <a:off x="1295400" y="1511300"/>
            <a:ext cx="126492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333" u="none" cap="none" strike="noStrike">
                <a:solidFill>
                  <a:srgbClr val="6A7E74"/>
                </a:solidFill>
                <a:latin typeface="Arial"/>
                <a:ea typeface="Arial"/>
                <a:cs typeface="Arial"/>
                <a:sym typeface="Arial"/>
              </a:rPr>
              <a:t>기대효과 - 이탈 고위험군 사전 선별</a:t>
            </a:r>
            <a:endParaRPr/>
          </a:p>
        </p:txBody>
      </p:sp>
      <p:pic>
        <p:nvPicPr>
          <p:cNvPr id="251" name="Google Shape;251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340100" y="3200400"/>
            <a:ext cx="17780000" cy="2781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p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670300" y="3771900"/>
            <a:ext cx="1638300" cy="1638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p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670300" y="3771900"/>
            <a:ext cx="1638300" cy="1638300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8"/>
          <p:cNvSpPr txBox="1"/>
          <p:nvPr/>
        </p:nvSpPr>
        <p:spPr>
          <a:xfrm>
            <a:off x="3873500" y="4203700"/>
            <a:ext cx="1231900" cy="7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9850">
            <a:noAutofit/>
          </a:bodyPr>
          <a:lstStyle/>
          <a:p>
            <a:pPr indent="0" lvl="0" marL="0" marR="0" rtl="0" algn="ctr">
              <a:lnSpc>
                <a:spcPct val="78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445" u="none" cap="none" strike="noStrike">
                <a:solidFill>
                  <a:srgbClr val="353535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/>
          </a:p>
        </p:txBody>
      </p:sp>
      <p:sp>
        <p:nvSpPr>
          <p:cNvPr id="255" name="Google Shape;255;p8"/>
          <p:cNvSpPr txBox="1"/>
          <p:nvPr/>
        </p:nvSpPr>
        <p:spPr>
          <a:xfrm>
            <a:off x="6007100" y="4241800"/>
            <a:ext cx="14211300" cy="6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945" u="none" cap="none" strike="noStrike">
                <a:solidFill>
                  <a:srgbClr val="353535"/>
                </a:solidFill>
                <a:latin typeface="Arial"/>
                <a:ea typeface="Arial"/>
                <a:cs typeface="Arial"/>
                <a:sym typeface="Arial"/>
              </a:rPr>
              <a:t>타겟팅과 정교화를 통한 리텐션 비용(품질/프로모션 비용) 절감</a:t>
            </a:r>
            <a:endParaRPr b="0" i="0" sz="3945" u="none" cap="none" strike="noStrike">
              <a:solidFill>
                <a:srgbClr val="35353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6" name="Google Shape;256;p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340100" y="6604000"/>
            <a:ext cx="17780000" cy="2781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7" name="Google Shape;257;p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670300" y="7175500"/>
            <a:ext cx="1638300" cy="1638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p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670300" y="7175500"/>
            <a:ext cx="1638300" cy="1638300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8"/>
          <p:cNvSpPr txBox="1"/>
          <p:nvPr/>
        </p:nvSpPr>
        <p:spPr>
          <a:xfrm>
            <a:off x="3873500" y="7607300"/>
            <a:ext cx="1231900" cy="7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9850">
            <a:noAutofit/>
          </a:bodyPr>
          <a:lstStyle/>
          <a:p>
            <a:pPr indent="0" lvl="0" marL="0" marR="0" rtl="0" algn="ctr">
              <a:lnSpc>
                <a:spcPct val="78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445" u="none" cap="none" strike="noStrike">
                <a:solidFill>
                  <a:srgbClr val="353535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/>
          </a:p>
        </p:txBody>
      </p:sp>
      <p:sp>
        <p:nvSpPr>
          <p:cNvPr id="260" name="Google Shape;260;p8"/>
          <p:cNvSpPr txBox="1"/>
          <p:nvPr/>
        </p:nvSpPr>
        <p:spPr>
          <a:xfrm>
            <a:off x="6007100" y="7645400"/>
            <a:ext cx="14211300" cy="6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94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기존 고객 유지를 통한 플랫폼 수익성 방어 및 점유율 향상</a:t>
            </a:r>
            <a:endParaRPr/>
          </a:p>
        </p:txBody>
      </p:sp>
      <p:pic>
        <p:nvPicPr>
          <p:cNvPr id="261" name="Google Shape;261;p8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3340100" y="10020300"/>
            <a:ext cx="17780000" cy="2781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670300" y="10591800"/>
            <a:ext cx="1638300" cy="1638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8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3670300" y="10591800"/>
            <a:ext cx="1638300" cy="1638300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8"/>
          <p:cNvSpPr txBox="1"/>
          <p:nvPr/>
        </p:nvSpPr>
        <p:spPr>
          <a:xfrm>
            <a:off x="3873500" y="11010900"/>
            <a:ext cx="1231900" cy="7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9850">
            <a:noAutofit/>
          </a:bodyPr>
          <a:lstStyle/>
          <a:p>
            <a:pPr indent="0" lvl="0" marL="0" marR="0" rtl="0" algn="ctr">
              <a:lnSpc>
                <a:spcPct val="78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445" u="none" cap="none" strike="noStrike">
                <a:solidFill>
                  <a:srgbClr val="353535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/>
          </a:p>
        </p:txBody>
      </p:sp>
      <p:sp>
        <p:nvSpPr>
          <p:cNvPr id="265" name="Google Shape;265;p8"/>
          <p:cNvSpPr txBox="1"/>
          <p:nvPr/>
        </p:nvSpPr>
        <p:spPr>
          <a:xfrm>
            <a:off x="5930900" y="11061700"/>
            <a:ext cx="14287500" cy="6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945" u="none" cap="none" strike="noStrike">
                <a:solidFill>
                  <a:srgbClr val="353535"/>
                </a:solidFill>
                <a:latin typeface="Arial"/>
                <a:ea typeface="Arial"/>
                <a:cs typeface="Arial"/>
                <a:sym typeface="Arial"/>
              </a:rPr>
              <a:t>주요 이탈 요인 파악을 통한 서비스 및 추천 알고리즘 개선 인사이트 도출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7F5"/>
        </a:solidFill>
      </p:bgPr>
    </p:bg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1" name="Google Shape;271;p9"/>
          <p:cNvPicPr preferRelativeResize="0"/>
          <p:nvPr/>
        </p:nvPicPr>
        <p:blipFill rotWithShape="1">
          <a:blip r:embed="rId3">
            <a:alphaModFix amt="70000"/>
          </a:blip>
          <a:srcRect b="0" l="0" r="0" t="0"/>
          <a:stretch/>
        </p:blipFill>
        <p:spPr>
          <a:xfrm>
            <a:off x="-3581400" y="9410700"/>
            <a:ext cx="31762700" cy="6070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2" name="Google Shape;272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24384000" cy="13716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9"/>
          <p:cNvSpPr txBox="1"/>
          <p:nvPr/>
        </p:nvSpPr>
        <p:spPr>
          <a:xfrm>
            <a:off x="4724400" y="5105400"/>
            <a:ext cx="14935200" cy="16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9250">
            <a:noAutofit/>
          </a:bodyPr>
          <a:lstStyle/>
          <a:p>
            <a:pPr indent="0" lvl="0" marL="0" marR="0" rtl="0" algn="ctr">
              <a:lnSpc>
                <a:spcPct val="1078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333" u="none" cap="none" strike="noStrike">
                <a:solidFill>
                  <a:srgbClr val="6A7E74"/>
                </a:solidFill>
                <a:latin typeface="Arial"/>
                <a:ea typeface="Arial"/>
                <a:cs typeface="Arial"/>
                <a:sym typeface="Arial"/>
              </a:rPr>
              <a:t>감사합니다.</a:t>
            </a:r>
            <a:endParaRPr/>
          </a:p>
        </p:txBody>
      </p:sp>
      <p:graphicFrame>
        <p:nvGraphicFramePr>
          <p:cNvPr id="274" name="Google Shape;274;p9"/>
          <p:cNvGraphicFramePr/>
          <p:nvPr/>
        </p:nvGraphicFramePr>
        <p:xfrm>
          <a:off x="1270000" y="11938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{96628D57-9080-41F5-BF4B-C3B86ACC4C00}</a:tableStyleId>
              </a:tblPr>
              <a:tblGrid>
                <a:gridCol w="7279275"/>
                <a:gridCol w="7279650"/>
                <a:gridCol w="7279275"/>
              </a:tblGrid>
              <a:tr h="1148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78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2399" u="none" cap="none" strike="noStrike">
                          <a:solidFill>
                            <a:srgbClr val="46645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SK 주식회사 AX 박병선 멘토님</a:t>
                      </a:r>
                      <a:endParaRPr sz="1100" u="none" cap="none" strike="noStrike"/>
                    </a:p>
                  </a:txBody>
                  <a:tcPr marT="40650" marB="40650" marR="25400" marL="254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E7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8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40650" marB="40650" marR="25400" marL="254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E7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78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2399" u="none" cap="none" strike="noStrike">
                          <a:solidFill>
                            <a:srgbClr val="46645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권동근,김광일,김나현,박인겸,허대수</a:t>
                      </a:r>
                      <a:endParaRPr sz="1100" u="none" cap="none" strike="noStrike"/>
                    </a:p>
                  </a:txBody>
                  <a:tcPr marT="40650" marB="40650" marR="25400" marL="254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E7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